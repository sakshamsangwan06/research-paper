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4qUuyXT8ZUPx1lYpLsNXZf/C5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x">
  <p:cSld name="TITLE_AND_BODY">
    <p:spTree>
      <p:nvGrpSpPr>
        <p:cNvPr id="10" name="Shape 10"/>
        <p:cNvGrpSpPr/>
        <p:nvPr/>
      </p:nvGrpSpPr>
      <p:grpSpPr>
        <a:xfrm>
          <a:off x="0" y="0"/>
          <a:ext cx="0" cy="0"/>
          <a:chOff x="0" y="0"/>
          <a:chExt cx="0" cy="0"/>
        </a:xfrm>
      </p:grpSpPr>
      <p:sp>
        <p:nvSpPr>
          <p:cNvPr id="11" name="Google Shape;11;p13"/>
          <p:cNvSpPr txBox="1"/>
          <p:nvPr>
            <p:ph idx="12" type="sldNum"/>
          </p:nvPr>
        </p:nvSpPr>
        <p:spPr>
          <a:xfrm>
            <a:off x="4419600" y="4627562"/>
            <a:ext cx="2133600" cy="2794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Calibri"/>
              <a:buNone/>
              <a:defRPr sz="1200"/>
            </a:lvl1pPr>
            <a:lvl2pPr indent="0" lvl="1" marL="0" algn="r">
              <a:lnSpc>
                <a:spcPct val="100000"/>
              </a:lnSpc>
              <a:spcBef>
                <a:spcPts val="0"/>
              </a:spcBef>
              <a:spcAft>
                <a:spcPts val="0"/>
              </a:spcAft>
              <a:buClr>
                <a:srgbClr val="000000"/>
              </a:buClr>
              <a:buSzPts val="1200"/>
              <a:buFont typeface="Calibri"/>
              <a:buNone/>
              <a:defRPr sz="1200"/>
            </a:lvl2pPr>
            <a:lvl3pPr indent="0" lvl="2" marL="0" algn="r">
              <a:lnSpc>
                <a:spcPct val="100000"/>
              </a:lnSpc>
              <a:spcBef>
                <a:spcPts val="0"/>
              </a:spcBef>
              <a:spcAft>
                <a:spcPts val="0"/>
              </a:spcAft>
              <a:buClr>
                <a:srgbClr val="000000"/>
              </a:buClr>
              <a:buSzPts val="1200"/>
              <a:buFont typeface="Calibri"/>
              <a:buNone/>
              <a:defRPr sz="1200"/>
            </a:lvl3pPr>
            <a:lvl4pPr indent="0" lvl="3" marL="0" algn="r">
              <a:lnSpc>
                <a:spcPct val="100000"/>
              </a:lnSpc>
              <a:spcBef>
                <a:spcPts val="0"/>
              </a:spcBef>
              <a:spcAft>
                <a:spcPts val="0"/>
              </a:spcAft>
              <a:buClr>
                <a:srgbClr val="000000"/>
              </a:buClr>
              <a:buSzPts val="1200"/>
              <a:buFont typeface="Calibri"/>
              <a:buNone/>
              <a:defRPr sz="1200"/>
            </a:lvl4pPr>
            <a:lvl5pPr indent="0" lvl="4" marL="0" algn="r">
              <a:lnSpc>
                <a:spcPct val="100000"/>
              </a:lnSpc>
              <a:spcBef>
                <a:spcPts val="0"/>
              </a:spcBef>
              <a:spcAft>
                <a:spcPts val="0"/>
              </a:spcAft>
              <a:buClr>
                <a:srgbClr val="000000"/>
              </a:buClr>
              <a:buSzPts val="1200"/>
              <a:buFont typeface="Calibri"/>
              <a:buNone/>
              <a:defRPr sz="1200"/>
            </a:lvl5pPr>
            <a:lvl6pPr indent="0" lvl="5" marL="0" algn="r">
              <a:lnSpc>
                <a:spcPct val="100000"/>
              </a:lnSpc>
              <a:spcBef>
                <a:spcPts val="0"/>
              </a:spcBef>
              <a:spcAft>
                <a:spcPts val="0"/>
              </a:spcAft>
              <a:buClr>
                <a:srgbClr val="000000"/>
              </a:buClr>
              <a:buSzPts val="1200"/>
              <a:buFont typeface="Calibri"/>
              <a:buNone/>
              <a:defRPr sz="1200"/>
            </a:lvl6pPr>
            <a:lvl7pPr indent="0" lvl="6" marL="0" algn="r">
              <a:lnSpc>
                <a:spcPct val="100000"/>
              </a:lnSpc>
              <a:spcBef>
                <a:spcPts val="0"/>
              </a:spcBef>
              <a:spcAft>
                <a:spcPts val="0"/>
              </a:spcAft>
              <a:buClr>
                <a:srgbClr val="000000"/>
              </a:buClr>
              <a:buSzPts val="1200"/>
              <a:buFont typeface="Calibri"/>
              <a:buNone/>
              <a:defRPr sz="1200"/>
            </a:lvl7pPr>
            <a:lvl8pPr indent="0" lvl="7" marL="0" algn="r">
              <a:lnSpc>
                <a:spcPct val="100000"/>
              </a:lnSpc>
              <a:spcBef>
                <a:spcPts val="0"/>
              </a:spcBef>
              <a:spcAft>
                <a:spcPts val="0"/>
              </a:spcAft>
              <a:buClr>
                <a:srgbClr val="000000"/>
              </a:buClr>
              <a:buSzPts val="1200"/>
              <a:buFont typeface="Calibri"/>
              <a:buNone/>
              <a:defRPr sz="1200"/>
            </a:lvl8pPr>
            <a:lvl9pPr indent="0" lvl="8" marL="0" algn="r">
              <a:lnSpc>
                <a:spcPct val="100000"/>
              </a:lnSpc>
              <a:spcBef>
                <a:spcPts val="0"/>
              </a:spcBef>
              <a:spcAft>
                <a:spcPts val="0"/>
              </a:spcAft>
              <a:buClr>
                <a:srgbClr val="000000"/>
              </a:buClr>
              <a:buSzPts val="1200"/>
              <a:buFont typeface="Calibri"/>
              <a:buNone/>
              <a:defRPr sz="12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Picture 15" id="6" name="Google Shape;6;p12"/>
          <p:cNvPicPr preferRelativeResize="0"/>
          <p:nvPr/>
        </p:nvPicPr>
        <p:blipFill rotWithShape="1">
          <a:blip r:embed="rId1">
            <a:alphaModFix/>
          </a:blip>
          <a:srcRect b="0" l="0" r="0" t="0"/>
          <a:stretch/>
        </p:blipFill>
        <p:spPr>
          <a:xfrm>
            <a:off x="6743179" y="-12300"/>
            <a:ext cx="1920601" cy="609121"/>
          </a:xfrm>
          <a:prstGeom prst="rect">
            <a:avLst/>
          </a:prstGeom>
          <a:noFill/>
          <a:ln>
            <a:noFill/>
          </a:ln>
        </p:spPr>
      </p:pic>
      <p:sp>
        <p:nvSpPr>
          <p:cNvPr id="7" name="Google Shape;7;p12"/>
          <p:cNvSpPr txBox="1"/>
          <p:nvPr>
            <p:ph type="title"/>
          </p:nvPr>
        </p:nvSpPr>
        <p:spPr>
          <a:xfrm>
            <a:off x="457200" y="69056"/>
            <a:ext cx="8229600" cy="1131094"/>
          </a:xfrm>
          <a:prstGeom prst="rect">
            <a:avLst/>
          </a:prstGeom>
          <a:noFill/>
          <a:ln>
            <a:noFill/>
          </a:ln>
        </p:spPr>
        <p:txBody>
          <a:bodyPr anchorCtr="0" anchor="ctr" bIns="45700" lIns="45700" spcFirstLastPara="1" rIns="45700" wrap="square" tIns="45700">
            <a:no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8" name="Google Shape;8;p12"/>
          <p:cNvSpPr txBox="1"/>
          <p:nvPr>
            <p:ph idx="1" type="body"/>
          </p:nvPr>
        </p:nvSpPr>
        <p:spPr>
          <a:xfrm>
            <a:off x="457200" y="1200150"/>
            <a:ext cx="8229600" cy="3943350"/>
          </a:xfrm>
          <a:prstGeom prst="rect">
            <a:avLst/>
          </a:prstGeom>
          <a:noFill/>
          <a:ln>
            <a:noFill/>
          </a:ln>
        </p:spPr>
        <p:txBody>
          <a:bodyPr anchorCtr="0" anchor="t" bIns="45700" lIns="45700" spcFirstLastPara="1" rIns="45700" wrap="square" tIns="45700">
            <a:no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9" name="Google Shape;9;p12"/>
          <p:cNvSpPr txBox="1"/>
          <p:nvPr>
            <p:ph idx="12" type="sldNum"/>
          </p:nvPr>
        </p:nvSpPr>
        <p:spPr>
          <a:xfrm>
            <a:off x="4419600" y="4627562"/>
            <a:ext cx="2133600" cy="27940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icture 15" id="16" name="Google Shape;16;p1"/>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17" name="Google Shape;17;p1"/>
          <p:cNvSpPr/>
          <p:nvPr/>
        </p:nvSpPr>
        <p:spPr>
          <a:xfrm>
            <a:off x="0" y="0"/>
            <a:ext cx="9144000" cy="59436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 name="Google Shape;18;p1"/>
          <p:cNvSpPr/>
          <p:nvPr/>
        </p:nvSpPr>
        <p:spPr>
          <a:xfrm>
            <a:off x="8458199" y="36575"/>
            <a:ext cx="502921" cy="502921"/>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 name="Google Shape;19;p1"/>
          <p:cNvSpPr txBox="1"/>
          <p:nvPr/>
        </p:nvSpPr>
        <p:spPr>
          <a:xfrm>
            <a:off x="274320" y="228519"/>
            <a:ext cx="6675119" cy="14646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100"/>
              <a:buFont typeface="Times New Roman"/>
              <a:buNone/>
            </a:pPr>
            <a:r>
              <a:rPr b="1" i="0" lang="en-US" sz="1100" u="none" cap="none" strike="noStrike">
                <a:solidFill>
                  <a:srgbClr val="FFFFFF"/>
                </a:solidFill>
                <a:latin typeface="Times New Roman"/>
                <a:ea typeface="Times New Roman"/>
                <a:cs typeface="Times New Roman"/>
                <a:sym typeface="Times New Roman"/>
              </a:rPr>
              <a:t>Project Presentation of Industry Oriented Hands on Experience (22CS422)</a:t>
            </a:r>
            <a:endParaRPr/>
          </a:p>
        </p:txBody>
      </p:sp>
      <p:sp>
        <p:nvSpPr>
          <p:cNvPr id="20" name="Google Shape;20;p1"/>
          <p:cNvSpPr txBox="1"/>
          <p:nvPr/>
        </p:nvSpPr>
        <p:spPr>
          <a:xfrm>
            <a:off x="0" y="717325"/>
            <a:ext cx="9144000" cy="25699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On</a:t>
            </a:r>
            <a:endParaRPr/>
          </a:p>
        </p:txBody>
      </p:sp>
      <p:sp>
        <p:nvSpPr>
          <p:cNvPr id="21" name="Google Shape;21;p1"/>
          <p:cNvSpPr txBox="1"/>
          <p:nvPr/>
        </p:nvSpPr>
        <p:spPr>
          <a:xfrm>
            <a:off x="502919" y="906713"/>
            <a:ext cx="8138162" cy="1295535"/>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CYBER SECURITY ISSUES IN INDIA:</a:t>
            </a:r>
            <a:endParaRPr/>
          </a:p>
          <a:p>
            <a:pPr indent="0" lvl="0" marL="0" marR="0" rtl="0" algn="ctr">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India's Approach to Cyber Security</a:t>
            </a:r>
            <a:endParaRPr/>
          </a:p>
          <a:p>
            <a:pPr indent="0" lvl="0" marL="0" marR="0" rtl="0" algn="ctr">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and National Cyber Security Policy</a:t>
            </a:r>
            <a:endParaRPr/>
          </a:p>
        </p:txBody>
      </p:sp>
      <p:sp>
        <p:nvSpPr>
          <p:cNvPr id="22" name="Google Shape;22;p1"/>
          <p:cNvSpPr txBox="1"/>
          <p:nvPr/>
        </p:nvSpPr>
        <p:spPr>
          <a:xfrm>
            <a:off x="320040" y="2392107"/>
            <a:ext cx="8503920" cy="656467"/>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Saksham Sangwan  |  2211981336  |  saksham1336.be22@chitkarauniversity.edu.in</a:t>
            </a:r>
            <a:endParaRPr/>
          </a:p>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Riya Yogi  |  2211981312  |  riya1312.be22@chitkarauniversity.edu.in</a:t>
            </a:r>
            <a:endParaRPr/>
          </a:p>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Manabika Dhara  |  2211981216  |  Manabika1216.be22@chitkarauniversity.edu.in</a:t>
            </a:r>
            <a:endParaRPr/>
          </a:p>
        </p:txBody>
      </p:sp>
      <p:sp>
        <p:nvSpPr>
          <p:cNvPr id="23" name="Google Shape;23;p1"/>
          <p:cNvSpPr txBox="1"/>
          <p:nvPr/>
        </p:nvSpPr>
        <p:spPr>
          <a:xfrm>
            <a:off x="45719" y="3092385"/>
            <a:ext cx="9052562" cy="846967"/>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200"/>
              <a:buFont typeface="Times New Roman"/>
              <a:buNone/>
            </a:pPr>
            <a:r>
              <a:rPr b="1" i="0" lang="en-US" sz="12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Dr. Shikha Tuteja</a:t>
            </a:r>
            <a:endParaRPr/>
          </a:p>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Associate Professor  |  Dept. of Computer Science &amp; Engineering</a:t>
            </a:r>
            <a:endParaRPr/>
          </a:p>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shikha.1290@chitkara.edu.in</a:t>
            </a:r>
            <a:endParaRPr/>
          </a:p>
        </p:txBody>
      </p:sp>
      <p:sp>
        <p:nvSpPr>
          <p:cNvPr id="24" name="Google Shape;24;p1"/>
          <p:cNvSpPr txBox="1"/>
          <p:nvPr/>
        </p:nvSpPr>
        <p:spPr>
          <a:xfrm>
            <a:off x="45719" y="3939823"/>
            <a:ext cx="9052562" cy="61513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Department of Computer Science and Engineering,</a:t>
            </a:r>
            <a:endParaRPr/>
          </a:p>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Chitkara University, Punjab</a:t>
            </a:r>
            <a:endParaRPr/>
          </a:p>
        </p:txBody>
      </p:sp>
      <p:sp>
        <p:nvSpPr>
          <p:cNvPr id="25" name="Google Shape;25;p1"/>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icture 15" id="26" name="Google Shape;26;p1"/>
          <p:cNvPicPr preferRelativeResize="0"/>
          <p:nvPr/>
        </p:nvPicPr>
        <p:blipFill rotWithShape="1">
          <a:blip r:embed="rId3">
            <a:alphaModFix/>
          </a:blip>
          <a:srcRect b="0" l="0" r="0" t="0"/>
          <a:stretch/>
        </p:blipFill>
        <p:spPr>
          <a:xfrm>
            <a:off x="6799976" y="-2808"/>
            <a:ext cx="1920601" cy="6091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Picture 15" id="31" name="Google Shape;31;p2"/>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32" name="Google Shape;32;p2"/>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 name="Google Shape;33;p2"/>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 name="Google Shape;34;p2"/>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Acknowledgement</a:t>
            </a:r>
            <a:endParaRPr/>
          </a:p>
        </p:txBody>
      </p:sp>
      <p:sp>
        <p:nvSpPr>
          <p:cNvPr id="35" name="Google Shape;35;p2"/>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 name="Google Shape;36;p2"/>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ii</a:t>
            </a:r>
            <a:endParaRPr/>
          </a:p>
        </p:txBody>
      </p:sp>
      <p:sp>
        <p:nvSpPr>
          <p:cNvPr id="37" name="Google Shape;37;p2"/>
          <p:cNvSpPr txBox="1"/>
          <p:nvPr/>
        </p:nvSpPr>
        <p:spPr>
          <a:xfrm>
            <a:off x="502919" y="868680"/>
            <a:ext cx="8138162" cy="3267811"/>
          </a:xfrm>
          <a:prstGeom prst="rect">
            <a:avLst/>
          </a:prstGeom>
          <a:noFill/>
          <a:ln>
            <a:noFill/>
          </a:ln>
        </p:spPr>
        <p:txBody>
          <a:bodyPr anchorCtr="0" anchor="t" bIns="45700" lIns="45700" spcFirstLastPara="1" rIns="45700" wrap="square" tIns="45700">
            <a:spAutoFit/>
          </a:bodyPr>
          <a:lstStyle/>
          <a:p>
            <a:pPr indent="0" lvl="0" marL="0" marR="0" rtl="0" algn="just">
              <a:lnSpc>
                <a:spcPct val="100000"/>
              </a:lnSpc>
              <a:spcBef>
                <a:spcPts val="0"/>
              </a:spcBef>
              <a:spcAft>
                <a:spcPts val="0"/>
              </a:spcAft>
              <a:buClr>
                <a:srgbClr val="1F1F1F"/>
              </a:buClr>
              <a:buSzPts val="2100"/>
              <a:buFont typeface="Times New Roman"/>
              <a:buNone/>
            </a:pPr>
            <a:r>
              <a:rPr b="0" i="0" lang="en-US" sz="2100" u="none" cap="none" strike="noStrike">
                <a:solidFill>
                  <a:srgbClr val="1F1F1F"/>
                </a:solidFill>
                <a:latin typeface="Times New Roman"/>
                <a:ea typeface="Times New Roman"/>
                <a:cs typeface="Times New Roman"/>
                <a:sym typeface="Times New Roman"/>
              </a:rPr>
              <a:t>We would like to express our sincere gratitude to our project mentor, Dr.  Shikha Tuteja, for their invaluable guidance, support, and encouragement throughout the duration of this project. We also thank the Department of Computer Science and Engineering, Chitkara University, for providing us with the resources and opportunity to undertake this study.</a:t>
            </a:r>
            <a:endParaRPr/>
          </a:p>
          <a:p>
            <a:pPr indent="0" lvl="0" marL="0" marR="0" rtl="0" algn="just">
              <a:lnSpc>
                <a:spcPct val="100000"/>
              </a:lnSpc>
              <a:spcBef>
                <a:spcPts val="0"/>
              </a:spcBef>
              <a:spcAft>
                <a:spcPts val="0"/>
              </a:spcAft>
              <a:buClr>
                <a:srgbClr val="000000"/>
              </a:buClr>
              <a:buSzPts val="2100"/>
              <a:buFont typeface="Calibri"/>
              <a:buNone/>
            </a:pPr>
            <a:r>
              <a:t/>
            </a:r>
            <a:endParaRPr b="0" i="0" sz="2100" u="none" cap="none" strike="noStrike">
              <a:solidFill>
                <a:srgbClr val="1F1F1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F1F1F"/>
              </a:buClr>
              <a:buSzPts val="2100"/>
              <a:buFont typeface="Times New Roman"/>
              <a:buNone/>
            </a:pPr>
            <a:r>
              <a:rPr b="0" i="0" lang="en-US" sz="2100" u="none" cap="none" strike="noStrike">
                <a:solidFill>
                  <a:srgbClr val="1F1F1F"/>
                </a:solidFill>
                <a:latin typeface="Times New Roman"/>
                <a:ea typeface="Times New Roman"/>
                <a:cs typeface="Times New Roman"/>
                <a:sym typeface="Times New Roman"/>
              </a:rPr>
              <a:t>We are also grateful to the authors of the referenced academic papers and reports whose work formed the foundation of our research into India's cyber security landscape. Finally, we acknowledge the efforts of all researchers and policymakers working towards a safer digital India.</a:t>
            </a:r>
            <a:endParaRPr/>
          </a:p>
        </p:txBody>
      </p:sp>
      <p:pic>
        <p:nvPicPr>
          <p:cNvPr descr="Picture 15" id="38" name="Google Shape;38;p2"/>
          <p:cNvPicPr preferRelativeResize="0"/>
          <p:nvPr/>
        </p:nvPicPr>
        <p:blipFill rotWithShape="1">
          <a:blip r:embed="rId3">
            <a:alphaModFix/>
          </a:blip>
          <a:srcRect b="0" l="0" r="0" t="0"/>
          <a:stretch/>
        </p:blipFill>
        <p:spPr>
          <a:xfrm>
            <a:off x="6791158" y="38340"/>
            <a:ext cx="1920601" cy="6091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pic>
        <p:nvPicPr>
          <p:cNvPr descr="Picture 15" id="43" name="Google Shape;43;p3"/>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44" name="Google Shape;44;p3"/>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 name="Google Shape;45;p3"/>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 name="Google Shape;46;p3"/>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List of Figures and Tables</a:t>
            </a:r>
            <a:endParaRPr/>
          </a:p>
        </p:txBody>
      </p:sp>
      <p:sp>
        <p:nvSpPr>
          <p:cNvPr id="47" name="Google Shape;47;p3"/>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 name="Google Shape;48;p3"/>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iii</a:t>
            </a:r>
            <a:endParaRPr/>
          </a:p>
        </p:txBody>
      </p:sp>
      <p:sp>
        <p:nvSpPr>
          <p:cNvPr id="49" name="Google Shape;49;p3"/>
          <p:cNvSpPr txBox="1"/>
          <p:nvPr/>
        </p:nvSpPr>
        <p:spPr>
          <a:xfrm>
            <a:off x="502919" y="796605"/>
            <a:ext cx="8138162" cy="372751"/>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2000"/>
              <a:buFont typeface="Times New Roman"/>
              <a:buNone/>
            </a:pPr>
            <a:r>
              <a:rPr b="1" i="0" lang="en-US" sz="2000" u="none" cap="none" strike="noStrike">
                <a:solidFill>
                  <a:srgbClr val="E8211B"/>
                </a:solidFill>
                <a:latin typeface="Times New Roman"/>
                <a:ea typeface="Times New Roman"/>
                <a:cs typeface="Times New Roman"/>
                <a:sym typeface="Times New Roman"/>
              </a:rPr>
              <a:t>Figures</a:t>
            </a:r>
            <a:endParaRPr/>
          </a:p>
        </p:txBody>
      </p:sp>
      <p:sp>
        <p:nvSpPr>
          <p:cNvPr id="50" name="Google Shape;50;p3"/>
          <p:cNvSpPr txBox="1"/>
          <p:nvPr/>
        </p:nvSpPr>
        <p:spPr>
          <a:xfrm>
            <a:off x="502919" y="1143000"/>
            <a:ext cx="8138162" cy="1148529"/>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Figure 1 – Top Network Threats (Pie Chart) ............................  3</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Figure 2 – Cyber Security Techniques Adoption (Bar Chart) .....  4</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Figure 3 – Growth of Cybercrime in India (2016–2023) ..............  6</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Figure 4 – NCSP 2013 Framework Structure .............................  8</a:t>
            </a:r>
            <a:endParaRPr/>
          </a:p>
        </p:txBody>
      </p:sp>
      <p:sp>
        <p:nvSpPr>
          <p:cNvPr id="51" name="Google Shape;51;p3"/>
          <p:cNvSpPr txBox="1"/>
          <p:nvPr/>
        </p:nvSpPr>
        <p:spPr>
          <a:xfrm>
            <a:off x="502919" y="2579684"/>
            <a:ext cx="8138162" cy="372751"/>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2000"/>
              <a:buFont typeface="Times New Roman"/>
              <a:buNone/>
            </a:pPr>
            <a:r>
              <a:rPr b="1" i="0" lang="en-US" sz="2000" u="none" cap="none" strike="noStrike">
                <a:solidFill>
                  <a:srgbClr val="E8211B"/>
                </a:solidFill>
                <a:latin typeface="Times New Roman"/>
                <a:ea typeface="Times New Roman"/>
                <a:cs typeface="Times New Roman"/>
                <a:sym typeface="Times New Roman"/>
              </a:rPr>
              <a:t>Tables</a:t>
            </a:r>
            <a:endParaRPr/>
          </a:p>
        </p:txBody>
      </p:sp>
      <p:sp>
        <p:nvSpPr>
          <p:cNvPr id="52" name="Google Shape;52;p3"/>
          <p:cNvSpPr txBox="1"/>
          <p:nvPr/>
        </p:nvSpPr>
        <p:spPr>
          <a:xfrm>
            <a:off x="502919" y="2926079"/>
            <a:ext cx="8138162" cy="88183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Table 1 – Comparison of Cyber Security Incidents (Jan–Jun 2012 vs 2013)  ...  3</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Table 2 – Major Cyber Attack Categories in India ......................................  5</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Table 3 – Key Provisions of IT Act 2000 &amp; IT Amendment Act 2008 ...........  7</a:t>
            </a:r>
            <a:endParaRPr/>
          </a:p>
        </p:txBody>
      </p:sp>
      <p:pic>
        <p:nvPicPr>
          <p:cNvPr descr="Picture 15" id="53" name="Google Shape;53;p3"/>
          <p:cNvPicPr preferRelativeResize="0"/>
          <p:nvPr/>
        </p:nvPicPr>
        <p:blipFill rotWithShape="1">
          <a:blip r:embed="rId3">
            <a:alphaModFix/>
          </a:blip>
          <a:srcRect b="0" l="0" r="0" t="0"/>
          <a:stretch/>
        </p:blipFill>
        <p:spPr>
          <a:xfrm>
            <a:off x="7108597" y="15480"/>
            <a:ext cx="1920601" cy="6091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descr="Picture 15" id="58" name="Google Shape;58;p4"/>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59" name="Google Shape;59;p4"/>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 name="Google Shape;60;p4"/>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 name="Google Shape;61;p4"/>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Abstract</a:t>
            </a:r>
            <a:endParaRPr/>
          </a:p>
        </p:txBody>
      </p:sp>
      <p:sp>
        <p:nvSpPr>
          <p:cNvPr id="62" name="Google Shape;62;p4"/>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 name="Google Shape;63;p4"/>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iv</a:t>
            </a:r>
            <a:endParaRPr/>
          </a:p>
        </p:txBody>
      </p:sp>
      <p:sp>
        <p:nvSpPr>
          <p:cNvPr id="64" name="Google Shape;64;p4"/>
          <p:cNvSpPr txBox="1"/>
          <p:nvPr/>
        </p:nvSpPr>
        <p:spPr>
          <a:xfrm>
            <a:off x="502919" y="822960"/>
            <a:ext cx="8138162" cy="3890651"/>
          </a:xfrm>
          <a:prstGeom prst="rect">
            <a:avLst/>
          </a:prstGeom>
          <a:noFill/>
          <a:ln>
            <a:noFill/>
          </a:ln>
        </p:spPr>
        <p:txBody>
          <a:bodyPr anchorCtr="0" anchor="t" bIns="45700" lIns="45700" spcFirstLastPara="1" rIns="45700" wrap="square" tIns="45700">
            <a:spAutoFit/>
          </a:bodyPr>
          <a:lstStyle/>
          <a:p>
            <a:pPr indent="0" lvl="0" marL="0" marR="0" rtl="0" algn="just">
              <a:lnSpc>
                <a:spcPct val="100000"/>
              </a:lnSpc>
              <a:spcBef>
                <a:spcPts val="0"/>
              </a:spcBef>
              <a:spcAft>
                <a:spcPts val="0"/>
              </a:spcAft>
              <a:buClr>
                <a:srgbClr val="1F1F1F"/>
              </a:buClr>
              <a:buSzPts val="2000"/>
              <a:buFont typeface="Times New Roman"/>
              <a:buNone/>
            </a:pPr>
            <a:r>
              <a:rPr b="0" i="0" lang="en-US" sz="2000" u="none" cap="none" strike="noStrike">
                <a:solidFill>
                  <a:srgbClr val="1F1F1F"/>
                </a:solidFill>
                <a:latin typeface="Times New Roman"/>
                <a:ea typeface="Times New Roman"/>
                <a:cs typeface="Times New Roman"/>
                <a:sym typeface="Times New Roman"/>
              </a:rPr>
              <a:t>Cyber security has emerged as one of the most critical concerns for India in the digital age. With rapid digitalisation across governance, banking, healthcare, and e-commerce, the threat landscape has expanded significantly. This project examines the key cyber security challenges faced by India, analyses India's legislative and policy response — particularly the Information Technology Act 2000, its 2008 Amendment, and the National Cyber Security Policy (NCSP) 2013 — and evaluates the effectiveness of these measures against emerging threats such as phishing, ransomware, APTs, and social engineering attacks.</a:t>
            </a:r>
            <a:endParaRPr/>
          </a:p>
          <a:p>
            <a:pPr indent="0" lvl="0" marL="0" marR="0" rtl="0" algn="just">
              <a:lnSpc>
                <a:spcPct val="100000"/>
              </a:lnSpc>
              <a:spcBef>
                <a:spcPts val="0"/>
              </a:spcBef>
              <a:spcAft>
                <a:spcPts val="0"/>
              </a:spcAft>
              <a:buClr>
                <a:srgbClr val="000000"/>
              </a:buClr>
              <a:buSzPts val="2000"/>
              <a:buFont typeface="Calibri"/>
              <a:buNone/>
            </a:pPr>
            <a:r>
              <a:t/>
            </a:r>
            <a:endParaRPr b="0" i="0" sz="2000" u="none" cap="none" strike="noStrike">
              <a:solidFill>
                <a:srgbClr val="1F1F1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F1F1F"/>
              </a:buClr>
              <a:buSzPts val="2000"/>
              <a:buFont typeface="Times New Roman"/>
              <a:buNone/>
            </a:pPr>
            <a:r>
              <a:rPr b="0" i="0" lang="en-US" sz="2000" u="none" cap="none" strike="noStrike">
                <a:solidFill>
                  <a:srgbClr val="1F1F1F"/>
                </a:solidFill>
                <a:latin typeface="Times New Roman"/>
                <a:ea typeface="Times New Roman"/>
                <a:cs typeface="Times New Roman"/>
                <a:sym typeface="Times New Roman"/>
              </a:rPr>
              <a:t>The study draws on multiple peer-reviewed academic sources to identify trends, gaps, and recommendations for strengthening India's national cyber resilience.</a:t>
            </a:r>
            <a:endParaRPr/>
          </a:p>
        </p:txBody>
      </p:sp>
      <p:pic>
        <p:nvPicPr>
          <p:cNvPr descr="Picture 15" id="65" name="Google Shape;65;p4"/>
          <p:cNvPicPr preferRelativeResize="0"/>
          <p:nvPr/>
        </p:nvPicPr>
        <p:blipFill rotWithShape="1">
          <a:blip r:embed="rId3">
            <a:alphaModFix/>
          </a:blip>
          <a:srcRect b="0" l="0" r="0" t="0"/>
          <a:stretch/>
        </p:blipFill>
        <p:spPr>
          <a:xfrm>
            <a:off x="7108597" y="38340"/>
            <a:ext cx="1920601" cy="6091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Picture 15" id="70" name="Google Shape;70;p5"/>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71" name="Google Shape;71;p5"/>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5"/>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 name="Google Shape;73;p5"/>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1. Introduction</a:t>
            </a:r>
            <a:endParaRPr/>
          </a:p>
        </p:txBody>
      </p:sp>
      <p:sp>
        <p:nvSpPr>
          <p:cNvPr id="74" name="Google Shape;74;p5"/>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 name="Google Shape;75;p5"/>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1</a:t>
            </a:r>
            <a:endParaRPr/>
          </a:p>
        </p:txBody>
      </p:sp>
      <p:sp>
        <p:nvSpPr>
          <p:cNvPr id="76" name="Google Shape;76;p5"/>
          <p:cNvSpPr txBox="1"/>
          <p:nvPr/>
        </p:nvSpPr>
        <p:spPr>
          <a:xfrm>
            <a:off x="502919" y="777239"/>
            <a:ext cx="8138162" cy="3890112"/>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India has over 700 million internet users as of 2023 — one of the world's largest online populations</a:t>
            </a:r>
            <a:endParaRPr/>
          </a:p>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Digital India, UPI payments, e-governance, and cloud adoption have expanded the attack surface dramatically</a:t>
            </a:r>
            <a:endParaRPr/>
          </a:p>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Cyber crimes in India have increased at an alarming rate — the national cybercrime portal registered over 1.5 million complaints in 2022</a:t>
            </a:r>
            <a:endParaRPr/>
          </a:p>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India ranks among the top targets globally for phishing attacks, ransomware, and data breaches</a:t>
            </a:r>
            <a:endParaRPr/>
          </a:p>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The need for a robust National Cyber Security framework has never been greater</a:t>
            </a:r>
            <a:endParaRPr/>
          </a:p>
          <a:p>
            <a:pPr indent="-342900" lvl="0" marL="342900" marR="0" rtl="0" algn="l">
              <a:lnSpc>
                <a:spcPct val="100000"/>
              </a:lnSpc>
              <a:spcBef>
                <a:spcPts val="0"/>
              </a:spcBef>
              <a:spcAft>
                <a:spcPts val="0"/>
              </a:spcAft>
              <a:buClr>
                <a:srgbClr val="1F1F1F"/>
              </a:buClr>
              <a:buSzPts val="2100"/>
              <a:buFont typeface="Times New Roman"/>
              <a:buChar char="•"/>
            </a:pPr>
            <a:r>
              <a:rPr b="0" i="0" lang="en-US" sz="2100" u="none" cap="none" strike="noStrike">
                <a:solidFill>
                  <a:srgbClr val="1F1F1F"/>
                </a:solidFill>
                <a:latin typeface="Times New Roman"/>
                <a:ea typeface="Times New Roman"/>
                <a:cs typeface="Times New Roman"/>
                <a:sym typeface="Times New Roman"/>
              </a:rPr>
              <a:t>This project investigates India's approach: legislative frameworks, policy initiatives, and technical countermeasures</a:t>
            </a:r>
            <a:endParaRPr/>
          </a:p>
        </p:txBody>
      </p:sp>
      <p:pic>
        <p:nvPicPr>
          <p:cNvPr descr="Picture 15" id="77" name="Google Shape;77;p5"/>
          <p:cNvPicPr preferRelativeResize="0"/>
          <p:nvPr/>
        </p:nvPicPr>
        <p:blipFill rotWithShape="1">
          <a:blip r:embed="rId3">
            <a:alphaModFix/>
          </a:blip>
          <a:srcRect b="0" l="0" r="0" t="0"/>
          <a:stretch/>
        </p:blipFill>
        <p:spPr>
          <a:xfrm>
            <a:off x="7073326" y="38340"/>
            <a:ext cx="1920601" cy="6091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icture 15" id="82" name="Google Shape;82;p6"/>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83" name="Google Shape;83;p6"/>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 name="Google Shape;84;p6"/>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 name="Google Shape;85;p6"/>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2. Methodology</a:t>
            </a:r>
            <a:endParaRPr/>
          </a:p>
        </p:txBody>
      </p:sp>
      <p:sp>
        <p:nvSpPr>
          <p:cNvPr id="86" name="Google Shape;86;p6"/>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 name="Google Shape;87;p6"/>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2</a:t>
            </a:r>
            <a:endParaRPr/>
          </a:p>
        </p:txBody>
      </p:sp>
      <p:sp>
        <p:nvSpPr>
          <p:cNvPr id="88" name="Google Shape;88;p6"/>
          <p:cNvSpPr txBox="1"/>
          <p:nvPr/>
        </p:nvSpPr>
        <p:spPr>
          <a:xfrm>
            <a:off x="502919" y="777239"/>
            <a:ext cx="8138162" cy="3433991"/>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900"/>
              <a:buFont typeface="Times New Roman"/>
              <a:buChar char="•"/>
            </a:pPr>
            <a:r>
              <a:rPr b="0" i="0" lang="en-US" sz="1900" u="none" cap="none" strike="noStrike">
                <a:solidFill>
                  <a:srgbClr val="1F1F1F"/>
                </a:solidFill>
                <a:latin typeface="Times New Roman"/>
                <a:ea typeface="Times New Roman"/>
                <a:cs typeface="Times New Roman"/>
                <a:sym typeface="Times New Roman"/>
              </a:rPr>
              <a:t>Research Design: Qualitative, descriptive study based on secondary data sources</a:t>
            </a:r>
            <a:endParaRPr/>
          </a:p>
          <a:p>
            <a:pPr indent="-342900" lvl="0" marL="342900" marR="0" rtl="0" algn="l">
              <a:lnSpc>
                <a:spcPct val="100000"/>
              </a:lnSpc>
              <a:spcBef>
                <a:spcPts val="0"/>
              </a:spcBef>
              <a:spcAft>
                <a:spcPts val="0"/>
              </a:spcAft>
              <a:buClr>
                <a:srgbClr val="1F1F1F"/>
              </a:buClr>
              <a:buSzPts val="1900"/>
              <a:buFont typeface="Times New Roman"/>
              <a:buChar char="•"/>
            </a:pPr>
            <a:r>
              <a:rPr b="0" i="0" lang="en-US" sz="1900" u="none" cap="none" strike="noStrike">
                <a:solidFill>
                  <a:srgbClr val="1F1F1F"/>
                </a:solidFill>
                <a:latin typeface="Times New Roman"/>
                <a:ea typeface="Times New Roman"/>
                <a:cs typeface="Times New Roman"/>
                <a:sym typeface="Times New Roman"/>
              </a:rPr>
              <a:t>Literature Review: Three peer-reviewed papers reviewed — covering global cybercrime trends (Kuzior et al., 2024), systematic review of cyber risk data (Cremer et al., 2022), and cyber security challenges (Reddy &amp; Reddy, 2014)</a:t>
            </a:r>
            <a:endParaRPr/>
          </a:p>
          <a:p>
            <a:pPr indent="-342900" lvl="0" marL="342900" marR="0" rtl="0" algn="l">
              <a:lnSpc>
                <a:spcPct val="100000"/>
              </a:lnSpc>
              <a:spcBef>
                <a:spcPts val="0"/>
              </a:spcBef>
              <a:spcAft>
                <a:spcPts val="0"/>
              </a:spcAft>
              <a:buClr>
                <a:srgbClr val="1F1F1F"/>
              </a:buClr>
              <a:buSzPts val="1900"/>
              <a:buFont typeface="Times New Roman"/>
              <a:buChar char="•"/>
            </a:pPr>
            <a:r>
              <a:rPr b="0" i="0" lang="en-US" sz="1900" u="none" cap="none" strike="noStrike">
                <a:solidFill>
                  <a:srgbClr val="1F1F1F"/>
                </a:solidFill>
                <a:latin typeface="Times New Roman"/>
                <a:ea typeface="Times New Roman"/>
                <a:cs typeface="Times New Roman"/>
                <a:sym typeface="Times New Roman"/>
              </a:rPr>
              <a:t>Data Sources: Academic journals (Journal of International Studies, Geneva Papers on Risk and Insurance), government reports, and CERT-In publications</a:t>
            </a:r>
            <a:endParaRPr/>
          </a:p>
          <a:p>
            <a:pPr indent="-342900" lvl="0" marL="342900" marR="0" rtl="0" algn="l">
              <a:lnSpc>
                <a:spcPct val="100000"/>
              </a:lnSpc>
              <a:spcBef>
                <a:spcPts val="0"/>
              </a:spcBef>
              <a:spcAft>
                <a:spcPts val="0"/>
              </a:spcAft>
              <a:buClr>
                <a:srgbClr val="1F1F1F"/>
              </a:buClr>
              <a:buSzPts val="1900"/>
              <a:buFont typeface="Times New Roman"/>
              <a:buChar char="•"/>
            </a:pPr>
            <a:r>
              <a:rPr b="0" i="0" lang="en-US" sz="1900" u="none" cap="none" strike="noStrike">
                <a:solidFill>
                  <a:srgbClr val="1F1F1F"/>
                </a:solidFill>
                <a:latin typeface="Times New Roman"/>
                <a:ea typeface="Times New Roman"/>
                <a:cs typeface="Times New Roman"/>
                <a:sym typeface="Times New Roman"/>
              </a:rPr>
              <a:t>Analysis Approach: Thematic analysis of India-specific cyber threats, policy documents (IT Act 2000, NCSP 2013), and comparative study of global best practices</a:t>
            </a:r>
            <a:endParaRPr/>
          </a:p>
          <a:p>
            <a:pPr indent="-342900" lvl="0" marL="342900" marR="0" rtl="0" algn="l">
              <a:lnSpc>
                <a:spcPct val="100000"/>
              </a:lnSpc>
              <a:spcBef>
                <a:spcPts val="0"/>
              </a:spcBef>
              <a:spcAft>
                <a:spcPts val="0"/>
              </a:spcAft>
              <a:buClr>
                <a:srgbClr val="1F1F1F"/>
              </a:buClr>
              <a:buSzPts val="1900"/>
              <a:buFont typeface="Times New Roman"/>
              <a:buChar char="•"/>
            </a:pPr>
            <a:r>
              <a:rPr b="0" i="0" lang="en-US" sz="1900" u="none" cap="none" strike="noStrike">
                <a:solidFill>
                  <a:srgbClr val="1F1F1F"/>
                </a:solidFill>
                <a:latin typeface="Times New Roman"/>
                <a:ea typeface="Times New Roman"/>
                <a:cs typeface="Times New Roman"/>
                <a:sym typeface="Times New Roman"/>
              </a:rPr>
              <a:t>Tools Used: Microsoft Word for documentation, PowerPoint for presentation, academic databases for literature search</a:t>
            </a:r>
            <a:endParaRPr/>
          </a:p>
        </p:txBody>
      </p:sp>
      <p:pic>
        <p:nvPicPr>
          <p:cNvPr descr="Picture 15" id="89" name="Google Shape;89;p6"/>
          <p:cNvPicPr preferRelativeResize="0"/>
          <p:nvPr/>
        </p:nvPicPr>
        <p:blipFill rotWithShape="1">
          <a:blip r:embed="rId3">
            <a:alphaModFix/>
          </a:blip>
          <a:srcRect b="0" l="0" r="0" t="0"/>
          <a:stretch/>
        </p:blipFill>
        <p:spPr>
          <a:xfrm>
            <a:off x="7038055" y="38340"/>
            <a:ext cx="1920601" cy="6091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Picture 15" id="94" name="Google Shape;94;p7"/>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95" name="Google Shape;95;p7"/>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 name="Google Shape;96;p7"/>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 name="Google Shape;97;p7"/>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3. Tools and Technologies</a:t>
            </a:r>
            <a:endParaRPr/>
          </a:p>
        </p:txBody>
      </p:sp>
      <p:sp>
        <p:nvSpPr>
          <p:cNvPr id="98" name="Google Shape;98;p7"/>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 name="Google Shape;99;p7"/>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3</a:t>
            </a:r>
            <a:endParaRPr/>
          </a:p>
        </p:txBody>
      </p:sp>
      <p:sp>
        <p:nvSpPr>
          <p:cNvPr id="100" name="Google Shape;100;p7"/>
          <p:cNvSpPr txBox="1"/>
          <p:nvPr/>
        </p:nvSpPr>
        <p:spPr>
          <a:xfrm>
            <a:off x="411479" y="750885"/>
            <a:ext cx="4023361" cy="37275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2000"/>
              <a:buFont typeface="Times New Roman"/>
              <a:buNone/>
            </a:pPr>
            <a:r>
              <a:rPr b="1" i="0" lang="en-US" sz="2000" u="none" cap="none" strike="noStrike">
                <a:solidFill>
                  <a:srgbClr val="E8211B"/>
                </a:solidFill>
                <a:latin typeface="Times New Roman"/>
                <a:ea typeface="Times New Roman"/>
                <a:cs typeface="Times New Roman"/>
                <a:sym typeface="Times New Roman"/>
              </a:rPr>
              <a:t>Security Technologies Discussed</a:t>
            </a:r>
            <a:endParaRPr/>
          </a:p>
        </p:txBody>
      </p:sp>
      <p:sp>
        <p:nvSpPr>
          <p:cNvPr id="101" name="Google Shape;101;p7"/>
          <p:cNvSpPr txBox="1"/>
          <p:nvPr/>
        </p:nvSpPr>
        <p:spPr>
          <a:xfrm>
            <a:off x="305667" y="1360170"/>
            <a:ext cx="4023361" cy="221533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Firewalls &amp; Intrusion Detection Systems (IDS)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Encryption (AES, RSA, TLS)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Anti-virus &amp; Malware scanners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Multi-Factor Authentication (MFA)</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SIEM (Security Information and Event Management)</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AI/ML-based Threat Detection</a:t>
            </a:r>
            <a:endParaRPr/>
          </a:p>
        </p:txBody>
      </p:sp>
      <p:sp>
        <p:nvSpPr>
          <p:cNvPr id="102" name="Google Shape;102;p7"/>
          <p:cNvSpPr txBox="1"/>
          <p:nvPr/>
        </p:nvSpPr>
        <p:spPr>
          <a:xfrm>
            <a:off x="4709160" y="750885"/>
            <a:ext cx="4023361" cy="37275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2000"/>
              <a:buFont typeface="Times New Roman"/>
              <a:buNone/>
            </a:pPr>
            <a:r>
              <a:rPr b="1" i="0" lang="en-US" sz="2000" u="none" cap="none" strike="noStrike">
                <a:solidFill>
                  <a:srgbClr val="E8211B"/>
                </a:solidFill>
                <a:latin typeface="Times New Roman"/>
                <a:ea typeface="Times New Roman"/>
                <a:cs typeface="Times New Roman"/>
                <a:sym typeface="Times New Roman"/>
              </a:rPr>
              <a:t>Policy &amp; Governance Frameworks</a:t>
            </a:r>
            <a:endParaRPr/>
          </a:p>
        </p:txBody>
      </p:sp>
      <p:sp>
        <p:nvSpPr>
          <p:cNvPr id="103" name="Google Shape;103;p7"/>
          <p:cNvSpPr txBox="1"/>
          <p:nvPr/>
        </p:nvSpPr>
        <p:spPr>
          <a:xfrm>
            <a:off x="4638618" y="1277699"/>
            <a:ext cx="4023361" cy="313027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IT Act 2000 &amp; IT Amendment Act 2008</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National Cyber Security Policy (NCSP) 2013</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CERT-In (Indian Computer Emergency Response Team)</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National Critical Information Infrastructure Protection Centre (NCIIPC)</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Cyber Swachhta Kendra (Botnet Cleaning Centre)</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Data Protection Bill (proposed framework)</a:t>
            </a:r>
            <a:endParaRPr/>
          </a:p>
        </p:txBody>
      </p:sp>
      <p:pic>
        <p:nvPicPr>
          <p:cNvPr descr="Picture 15" id="104" name="Google Shape;104;p7"/>
          <p:cNvPicPr preferRelativeResize="0"/>
          <p:nvPr/>
        </p:nvPicPr>
        <p:blipFill rotWithShape="1">
          <a:blip r:embed="rId3">
            <a:alphaModFix/>
          </a:blip>
          <a:srcRect b="0" l="0" r="0" t="0"/>
          <a:stretch/>
        </p:blipFill>
        <p:spPr>
          <a:xfrm>
            <a:off x="6914607" y="15480"/>
            <a:ext cx="1920601" cy="6091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Picture 15" id="109" name="Google Shape;109;p8"/>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110" name="Google Shape;110;p8"/>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 name="Google Shape;111;p8"/>
          <p:cNvSpPr txBox="1"/>
          <p:nvPr/>
        </p:nvSpPr>
        <p:spPr>
          <a:xfrm>
            <a:off x="7178040" y="87328"/>
            <a:ext cx="1280161" cy="17281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CHITKARA</a:t>
            </a:r>
            <a:endParaRPr/>
          </a:p>
        </p:txBody>
      </p:sp>
      <p:sp>
        <p:nvSpPr>
          <p:cNvPr id="112" name="Google Shape;112;p8"/>
          <p:cNvSpPr txBox="1"/>
          <p:nvPr/>
        </p:nvSpPr>
        <p:spPr>
          <a:xfrm>
            <a:off x="7178040" y="320548"/>
            <a:ext cx="1280161" cy="1270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UNIVERSITY</a:t>
            </a:r>
            <a:endParaRPr/>
          </a:p>
        </p:txBody>
      </p:sp>
      <p:sp>
        <p:nvSpPr>
          <p:cNvPr id="113" name="Google Shape;113;p8"/>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 name="Google Shape;114;p8"/>
          <p:cNvSpPr txBox="1"/>
          <p:nvPr/>
        </p:nvSpPr>
        <p:spPr>
          <a:xfrm>
            <a:off x="274320" y="-1"/>
            <a:ext cx="6675119" cy="6858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4. Implementation – India's Cyber Security Architecture</a:t>
            </a:r>
            <a:endParaRPr/>
          </a:p>
        </p:txBody>
      </p:sp>
      <p:sp>
        <p:nvSpPr>
          <p:cNvPr id="115" name="Google Shape;115;p8"/>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 name="Google Shape;116;p8"/>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4</a:t>
            </a:r>
            <a:endParaRPr/>
          </a:p>
        </p:txBody>
      </p:sp>
      <p:sp>
        <p:nvSpPr>
          <p:cNvPr id="117" name="Google Shape;117;p8"/>
          <p:cNvSpPr txBox="1"/>
          <p:nvPr/>
        </p:nvSpPr>
        <p:spPr>
          <a:xfrm>
            <a:off x="502919" y="777239"/>
            <a:ext cx="8138162" cy="354883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NCSP 2013 created a 5-tier architecture: National → Sectoral → State → Organizational → Individual</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CERT-In serves as the nodal agency for incident response, issuing advisories, and coordinating with international CERTs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NCIIPC protects critical sectors: power grids, banking, telecom, and defense</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India mandated reporting of 20 categories of cyber incidents to CERT-In within 6 hours (2022 directive)</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National Cyber Coordination Centre (NCCC) provides real-time cyber situation awareness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Cyber Surakshit Bharat initiative: training for government officials and awareness campaigns for citizens</a:t>
            </a:r>
            <a:endParaRPr/>
          </a:p>
          <a:p>
            <a:pPr indent="-342900" lvl="0" marL="342900" marR="0" rtl="0" algn="l">
              <a:lnSpc>
                <a:spcPct val="100000"/>
              </a:lnSpc>
              <a:spcBef>
                <a:spcPts val="0"/>
              </a:spcBef>
              <a:spcAft>
                <a:spcPts val="0"/>
              </a:spcAft>
              <a:buClr>
                <a:srgbClr val="1F1F1F"/>
              </a:buClr>
              <a:buSzPts val="1800"/>
              <a:buFont typeface="Times New Roman"/>
              <a:buChar char="•"/>
            </a:pPr>
            <a:r>
              <a:rPr b="0" i="0" lang="en-US" sz="1800" u="none" cap="none" strike="noStrike">
                <a:solidFill>
                  <a:srgbClr val="1F1F1F"/>
                </a:solidFill>
                <a:latin typeface="Times New Roman"/>
                <a:ea typeface="Times New Roman"/>
                <a:cs typeface="Times New Roman"/>
                <a:sym typeface="Times New Roman"/>
              </a:rPr>
              <a:t>Collaboration with international agencies: INTERPOL, ITU, and bilateral cyber agreements</a:t>
            </a:r>
            <a:endParaRPr/>
          </a:p>
        </p:txBody>
      </p:sp>
      <p:pic>
        <p:nvPicPr>
          <p:cNvPr descr="Picture 15" id="118" name="Google Shape;118;p8"/>
          <p:cNvPicPr preferRelativeResize="0"/>
          <p:nvPr/>
        </p:nvPicPr>
        <p:blipFill rotWithShape="1">
          <a:blip r:embed="rId3">
            <a:alphaModFix/>
          </a:blip>
          <a:srcRect b="0" l="0" r="0" t="0"/>
          <a:stretch/>
        </p:blipFill>
        <p:spPr>
          <a:xfrm>
            <a:off x="7002784" y="15480"/>
            <a:ext cx="1920601" cy="6091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Picture 15" id="123" name="Google Shape;123;p9"/>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124" name="Google Shape;124;p9"/>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 name="Google Shape;125;p9"/>
          <p:cNvSpPr txBox="1"/>
          <p:nvPr/>
        </p:nvSpPr>
        <p:spPr>
          <a:xfrm>
            <a:off x="7178040" y="87328"/>
            <a:ext cx="1280161" cy="17281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6" name="Google Shape;126;p9"/>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 name="Google Shape;127;p9"/>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5. Major Findings / Results</a:t>
            </a:r>
            <a:endParaRPr/>
          </a:p>
        </p:txBody>
      </p:sp>
      <p:sp>
        <p:nvSpPr>
          <p:cNvPr id="128" name="Google Shape;128;p9"/>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 name="Google Shape;129;p9"/>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5</a:t>
            </a:r>
            <a:endParaRPr/>
          </a:p>
        </p:txBody>
      </p:sp>
      <p:sp>
        <p:nvSpPr>
          <p:cNvPr id="130" name="Google Shape;130;p9"/>
          <p:cNvSpPr txBox="1"/>
          <p:nvPr/>
        </p:nvSpPr>
        <p:spPr>
          <a:xfrm>
            <a:off x="502919" y="763045"/>
            <a:ext cx="8138162" cy="34843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1800"/>
              <a:buFont typeface="Times New Roman"/>
              <a:buNone/>
            </a:pPr>
            <a:r>
              <a:rPr b="1" i="0" lang="en-US" sz="1800" u="none" cap="none" strike="noStrike">
                <a:solidFill>
                  <a:srgbClr val="E8211B"/>
                </a:solidFill>
                <a:latin typeface="Times New Roman"/>
                <a:ea typeface="Times New Roman"/>
                <a:cs typeface="Times New Roman"/>
                <a:sym typeface="Times New Roman"/>
              </a:rPr>
              <a:t>Key Findings from Literature &amp; Analysis</a:t>
            </a:r>
            <a:endParaRPr/>
          </a:p>
        </p:txBody>
      </p:sp>
      <p:sp>
        <p:nvSpPr>
          <p:cNvPr id="131" name="Google Shape;131;p9"/>
          <p:cNvSpPr txBox="1"/>
          <p:nvPr/>
        </p:nvSpPr>
        <p:spPr>
          <a:xfrm>
            <a:off x="502919" y="1142999"/>
            <a:ext cx="8138162" cy="363827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Cybercrime in India grew by over 63% between 2019 and 2022 (NCRB data), mirroring global trends identified by Kuzior et al. (2024)</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Top threats in India: financial fraud (UPI scams), phishing, ransomware attacks on healthcare &amp; government portals</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Cremer et al. (2022) highlight a critical data availability gap — India lacks a centralised, open cyber incident database comparable to the US IC3</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NCSP 2013 improved India's Global Cybersecurity Index (GCI) ranking, but implementation gaps remain at state and local levels</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Social media platforms are the primary vector for social engineering and identity theft targeting Indian users</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India has a significant shortage of trained cyber security professionals — estimated deficit of 1 million specialists by 2025</a:t>
            </a:r>
            <a:endParaRPr/>
          </a:p>
          <a:p>
            <a:pPr indent="-342900" lvl="0" marL="342900" marR="0" rtl="0" algn="l">
              <a:lnSpc>
                <a:spcPct val="100000"/>
              </a:lnSpc>
              <a:spcBef>
                <a:spcPts val="0"/>
              </a:spcBef>
              <a:spcAft>
                <a:spcPts val="0"/>
              </a:spcAft>
              <a:buClr>
                <a:srgbClr val="1F1F1F"/>
              </a:buClr>
              <a:buSzPts val="1700"/>
              <a:buFont typeface="Times New Roman"/>
              <a:buChar char="•"/>
            </a:pPr>
            <a:r>
              <a:rPr b="0" i="0" lang="en-US" sz="1700" u="none" cap="none" strike="noStrike">
                <a:solidFill>
                  <a:srgbClr val="1F1F1F"/>
                </a:solidFill>
                <a:latin typeface="Times New Roman"/>
                <a:ea typeface="Times New Roman"/>
                <a:cs typeface="Times New Roman"/>
                <a:sym typeface="Times New Roman"/>
              </a:rPr>
              <a:t>Cloud computing adoption in India (89% multi-cloud enterprises) introduces new vulnerabilities requiring updated policy controls</a:t>
            </a:r>
            <a:endParaRPr/>
          </a:p>
        </p:txBody>
      </p:sp>
      <p:pic>
        <p:nvPicPr>
          <p:cNvPr descr="Picture 15" id="132" name="Google Shape;132;p9"/>
          <p:cNvPicPr preferRelativeResize="0"/>
          <p:nvPr/>
        </p:nvPicPr>
        <p:blipFill rotWithShape="1">
          <a:blip r:embed="rId3">
            <a:alphaModFix/>
          </a:blip>
          <a:srcRect b="0" l="0" r="0" t="0"/>
          <a:stretch/>
        </p:blipFill>
        <p:spPr>
          <a:xfrm>
            <a:off x="7046873" y="38340"/>
            <a:ext cx="1920601" cy="6091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Picture 15" id="137" name="Google Shape;137;p10"/>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138" name="Google Shape;138;p10"/>
          <p:cNvSpPr/>
          <p:nvPr/>
        </p:nvSpPr>
        <p:spPr>
          <a:xfrm>
            <a:off x="0" y="0"/>
            <a:ext cx="9144000" cy="68580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10"/>
          <p:cNvSpPr txBox="1"/>
          <p:nvPr/>
        </p:nvSpPr>
        <p:spPr>
          <a:xfrm>
            <a:off x="7178040" y="87328"/>
            <a:ext cx="1280161" cy="17281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CHITKARA</a:t>
            </a:r>
            <a:endParaRPr/>
          </a:p>
        </p:txBody>
      </p:sp>
      <p:sp>
        <p:nvSpPr>
          <p:cNvPr id="140" name="Google Shape;140;p10"/>
          <p:cNvSpPr txBox="1"/>
          <p:nvPr/>
        </p:nvSpPr>
        <p:spPr>
          <a:xfrm>
            <a:off x="7178040" y="320548"/>
            <a:ext cx="1280161" cy="1270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UNIVERSITY</a:t>
            </a:r>
            <a:endParaRPr/>
          </a:p>
        </p:txBody>
      </p:sp>
      <p:sp>
        <p:nvSpPr>
          <p:cNvPr id="141" name="Google Shape;141;p10"/>
          <p:cNvSpPr/>
          <p:nvPr/>
        </p:nvSpPr>
        <p:spPr>
          <a:xfrm>
            <a:off x="8458199" y="45719"/>
            <a:ext cx="502921" cy="548642"/>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2" name="Google Shape;142;p10"/>
          <p:cNvSpPr txBox="1"/>
          <p:nvPr/>
        </p:nvSpPr>
        <p:spPr>
          <a:xfrm>
            <a:off x="274320" y="171449"/>
            <a:ext cx="6675119" cy="3429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Georgia"/>
              <a:buNone/>
            </a:pPr>
            <a:r>
              <a:rPr b="0" i="0" lang="en-US" sz="2400" u="none" cap="none" strike="noStrike">
                <a:solidFill>
                  <a:srgbClr val="FFFFFF"/>
                </a:solidFill>
                <a:latin typeface="Georgia"/>
                <a:ea typeface="Georgia"/>
                <a:cs typeface="Georgia"/>
                <a:sym typeface="Georgia"/>
              </a:rPr>
              <a:t>6. Conclusion and Future Scope</a:t>
            </a:r>
            <a:endParaRPr/>
          </a:p>
        </p:txBody>
      </p:sp>
      <p:sp>
        <p:nvSpPr>
          <p:cNvPr id="143" name="Google Shape;143;p10"/>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4" name="Google Shape;144;p10"/>
          <p:cNvSpPr txBox="1"/>
          <p:nvPr/>
        </p:nvSpPr>
        <p:spPr>
          <a:xfrm>
            <a:off x="8412480" y="4709204"/>
            <a:ext cx="548641" cy="137072"/>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Calibri"/>
              <a:buNone/>
            </a:pPr>
            <a:r>
              <a:rPr b="1" i="0" lang="en-US" sz="1000" u="none" cap="none" strike="noStrike">
                <a:solidFill>
                  <a:srgbClr val="000000"/>
                </a:solidFill>
                <a:latin typeface="Calibri"/>
                <a:ea typeface="Calibri"/>
                <a:cs typeface="Calibri"/>
                <a:sym typeface="Calibri"/>
              </a:rPr>
              <a:t>6</a:t>
            </a:r>
            <a:endParaRPr/>
          </a:p>
        </p:txBody>
      </p:sp>
      <p:sp>
        <p:nvSpPr>
          <p:cNvPr id="145" name="Google Shape;145;p10"/>
          <p:cNvSpPr txBox="1"/>
          <p:nvPr/>
        </p:nvSpPr>
        <p:spPr>
          <a:xfrm>
            <a:off x="502919" y="758696"/>
            <a:ext cx="8138162" cy="311408"/>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1600"/>
              <a:buFont typeface="Times New Roman"/>
              <a:buNone/>
            </a:pPr>
            <a:r>
              <a:rPr b="1" i="0" lang="en-US" sz="1600" u="none" cap="none" strike="noStrike">
                <a:solidFill>
                  <a:srgbClr val="E8211B"/>
                </a:solidFill>
                <a:latin typeface="Times New Roman"/>
                <a:ea typeface="Times New Roman"/>
                <a:cs typeface="Times New Roman"/>
                <a:sym typeface="Times New Roman"/>
              </a:rPr>
              <a:t>Conclusion</a:t>
            </a:r>
            <a:endParaRPr/>
          </a:p>
        </p:txBody>
      </p:sp>
      <p:sp>
        <p:nvSpPr>
          <p:cNvPr id="146" name="Google Shape;146;p10"/>
          <p:cNvSpPr txBox="1"/>
          <p:nvPr/>
        </p:nvSpPr>
        <p:spPr>
          <a:xfrm>
            <a:off x="502919" y="1051560"/>
            <a:ext cx="8138162" cy="1378748"/>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India has made commendable progress in establishing a cyber security framework through NCSP 2013, CERT-In, and NCIIPC</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However, rapid digitalisation continues to outpace policy implementation, leaving significant security gaps</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A comprehensive Personal Data Protection Law, mandatory incident reporting, and workforce development are urgently needed</a:t>
            </a:r>
            <a:endParaRPr/>
          </a:p>
        </p:txBody>
      </p:sp>
      <p:sp>
        <p:nvSpPr>
          <p:cNvPr id="147" name="Google Shape;147;p10"/>
          <p:cNvSpPr txBox="1"/>
          <p:nvPr/>
        </p:nvSpPr>
        <p:spPr>
          <a:xfrm>
            <a:off x="502919" y="2404616"/>
            <a:ext cx="8138162" cy="311409"/>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E8211B"/>
              </a:buClr>
              <a:buSzPts val="1600"/>
              <a:buFont typeface="Times New Roman"/>
              <a:buNone/>
            </a:pPr>
            <a:r>
              <a:rPr b="1" i="0" lang="en-US" sz="1600" u="none" cap="none" strike="noStrike">
                <a:solidFill>
                  <a:srgbClr val="E8211B"/>
                </a:solidFill>
                <a:latin typeface="Times New Roman"/>
                <a:ea typeface="Times New Roman"/>
                <a:cs typeface="Times New Roman"/>
                <a:sym typeface="Times New Roman"/>
              </a:rPr>
              <a:t>Future Scope</a:t>
            </a:r>
            <a:endParaRPr/>
          </a:p>
        </p:txBody>
      </p:sp>
      <p:sp>
        <p:nvSpPr>
          <p:cNvPr id="148" name="Google Shape;148;p10"/>
          <p:cNvSpPr txBox="1"/>
          <p:nvPr/>
        </p:nvSpPr>
        <p:spPr>
          <a:xfrm>
            <a:off x="502919" y="2697479"/>
            <a:ext cx="8138162" cy="1594649"/>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Development of a centralised national cyber incident database (as recommended by Cremer et al., 2022) for better risk assessment</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Integration of AI/ML-based threat detection systems across critical infrastructure sectors</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Strengthening international cooperation and aligning India's framework with global standards (ISO 27001, NIST CSF)</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Expansion of cyber security education at the university level to address the skills shortage</a:t>
            </a:r>
            <a:endParaRPr/>
          </a:p>
          <a:p>
            <a:pPr indent="-342900" lvl="0" marL="342900" marR="0" rtl="0" algn="l">
              <a:lnSpc>
                <a:spcPct val="100000"/>
              </a:lnSpc>
              <a:spcBef>
                <a:spcPts val="0"/>
              </a:spcBef>
              <a:spcAft>
                <a:spcPts val="0"/>
              </a:spcAft>
              <a:buClr>
                <a:srgbClr val="1F1F1F"/>
              </a:buClr>
              <a:buSzPts val="1500"/>
              <a:buFont typeface="Times New Roman"/>
              <a:buChar char="•"/>
            </a:pPr>
            <a:r>
              <a:rPr b="0" i="0" lang="en-US" sz="1500" u="none" cap="none" strike="noStrike">
                <a:solidFill>
                  <a:srgbClr val="1F1F1F"/>
                </a:solidFill>
                <a:latin typeface="Times New Roman"/>
                <a:ea typeface="Times New Roman"/>
                <a:cs typeface="Times New Roman"/>
                <a:sym typeface="Times New Roman"/>
              </a:rPr>
              <a:t>Updating NCSP 2013 to cover IoT security, 5G networks, and quantum computing threats</a:t>
            </a:r>
            <a:endParaRPr/>
          </a:p>
        </p:txBody>
      </p:sp>
      <p:pic>
        <p:nvPicPr>
          <p:cNvPr descr="Picture 15" id="149" name="Google Shape;149;p10"/>
          <p:cNvPicPr preferRelativeResize="0"/>
          <p:nvPr/>
        </p:nvPicPr>
        <p:blipFill rotWithShape="1">
          <a:blip r:embed="rId3">
            <a:alphaModFix/>
          </a:blip>
          <a:srcRect b="0" l="0" r="0" t="0"/>
          <a:stretch/>
        </p:blipFill>
        <p:spPr>
          <a:xfrm>
            <a:off x="6985149" y="38340"/>
            <a:ext cx="1920601" cy="6091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Picture 15" id="154" name="Google Shape;154;p11"/>
          <p:cNvPicPr preferRelativeResize="0"/>
          <p:nvPr/>
        </p:nvPicPr>
        <p:blipFill rotWithShape="1">
          <a:blip r:embed="rId3">
            <a:alphaModFix/>
          </a:blip>
          <a:srcRect b="0" l="0" r="0" t="0"/>
          <a:stretch/>
        </p:blipFill>
        <p:spPr>
          <a:xfrm>
            <a:off x="6743179" y="-12300"/>
            <a:ext cx="1920601" cy="609121"/>
          </a:xfrm>
          <a:prstGeom prst="rect">
            <a:avLst/>
          </a:prstGeom>
          <a:noFill/>
          <a:ln>
            <a:noFill/>
          </a:ln>
        </p:spPr>
      </p:pic>
      <p:sp>
        <p:nvSpPr>
          <p:cNvPr id="155" name="Google Shape;155;p11"/>
          <p:cNvSpPr/>
          <p:nvPr/>
        </p:nvSpPr>
        <p:spPr>
          <a:xfrm>
            <a:off x="0" y="0"/>
            <a:ext cx="9144000" cy="594360"/>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6" name="Google Shape;156;p11"/>
          <p:cNvSpPr txBox="1"/>
          <p:nvPr/>
        </p:nvSpPr>
        <p:spPr>
          <a:xfrm>
            <a:off x="7178040" y="78184"/>
            <a:ext cx="1234441" cy="17281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CHITKARA</a:t>
            </a:r>
            <a:endParaRPr/>
          </a:p>
        </p:txBody>
      </p:sp>
      <p:sp>
        <p:nvSpPr>
          <p:cNvPr id="157" name="Google Shape;157;p11"/>
          <p:cNvSpPr txBox="1"/>
          <p:nvPr/>
        </p:nvSpPr>
        <p:spPr>
          <a:xfrm>
            <a:off x="7178040" y="320548"/>
            <a:ext cx="1234441" cy="1270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UNIVERSITY</a:t>
            </a:r>
            <a:endParaRPr/>
          </a:p>
        </p:txBody>
      </p:sp>
      <p:sp>
        <p:nvSpPr>
          <p:cNvPr id="158" name="Google Shape;158;p11"/>
          <p:cNvSpPr/>
          <p:nvPr/>
        </p:nvSpPr>
        <p:spPr>
          <a:xfrm>
            <a:off x="8458199" y="36575"/>
            <a:ext cx="502921" cy="502921"/>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9" name="Google Shape;159;p11"/>
          <p:cNvSpPr txBox="1"/>
          <p:nvPr/>
        </p:nvSpPr>
        <p:spPr>
          <a:xfrm>
            <a:off x="45719" y="1755140"/>
            <a:ext cx="9052562" cy="878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E8211B"/>
              </a:buClr>
              <a:buSzPts val="5400"/>
              <a:buFont typeface="Georgia"/>
              <a:buNone/>
            </a:pPr>
            <a:r>
              <a:rPr b="0" i="0" lang="en-US" sz="5400" u="none" cap="none" strike="noStrike">
                <a:solidFill>
                  <a:srgbClr val="E8211B"/>
                </a:solidFill>
                <a:latin typeface="Georgia"/>
                <a:ea typeface="Georgia"/>
                <a:cs typeface="Georgia"/>
                <a:sym typeface="Georgia"/>
              </a:rPr>
              <a:t>Thank You</a:t>
            </a:r>
            <a:endParaRPr/>
          </a:p>
        </p:txBody>
      </p:sp>
      <p:sp>
        <p:nvSpPr>
          <p:cNvPr id="160" name="Google Shape;160;p11"/>
          <p:cNvSpPr txBox="1"/>
          <p:nvPr/>
        </p:nvSpPr>
        <p:spPr>
          <a:xfrm>
            <a:off x="45719" y="2876864"/>
            <a:ext cx="9052500" cy="3078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1F1F1F"/>
              </a:buClr>
              <a:buSzPts val="2000"/>
              <a:buFont typeface="Times New Roman"/>
              <a:buNone/>
            </a:pPr>
            <a:r>
              <a:t/>
            </a:r>
            <a:endParaRPr/>
          </a:p>
        </p:txBody>
      </p:sp>
      <p:sp>
        <p:nvSpPr>
          <p:cNvPr id="161" name="Google Shape;161;p11"/>
          <p:cNvSpPr txBox="1"/>
          <p:nvPr/>
        </p:nvSpPr>
        <p:spPr>
          <a:xfrm>
            <a:off x="45719" y="3422616"/>
            <a:ext cx="9052562" cy="287088"/>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1F1F1F"/>
              </a:buClr>
              <a:buSzPts val="1400"/>
              <a:buFont typeface="Times New Roman"/>
              <a:buNone/>
            </a:pPr>
            <a:r>
              <a:rPr b="0" i="0" lang="en-US" sz="1400" u="none" cap="none" strike="noStrike">
                <a:solidFill>
                  <a:srgbClr val="1F1F1F"/>
                </a:solidFill>
                <a:latin typeface="Times New Roman"/>
                <a:ea typeface="Times New Roman"/>
                <a:cs typeface="Times New Roman"/>
                <a:sym typeface="Times New Roman"/>
              </a:rPr>
              <a:t>Department of Computer Science and Engineering, Chitkara University, Punjab</a:t>
            </a:r>
            <a:endParaRPr/>
          </a:p>
        </p:txBody>
      </p:sp>
      <p:sp>
        <p:nvSpPr>
          <p:cNvPr id="162" name="Google Shape;162;p11"/>
          <p:cNvSpPr/>
          <p:nvPr/>
        </p:nvSpPr>
        <p:spPr>
          <a:xfrm>
            <a:off x="0" y="4892040"/>
            <a:ext cx="9144000" cy="246889"/>
          </a:xfrm>
          <a:prstGeom prst="rect">
            <a:avLst/>
          </a:prstGeom>
          <a:solidFill>
            <a:srgbClr val="E8211B"/>
          </a:solidFill>
          <a:ln cap="flat" cmpd="sng" w="12700">
            <a:solidFill>
              <a:srgbClr val="E8211B"/>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Picture 15" id="163" name="Google Shape;163;p11"/>
          <p:cNvPicPr preferRelativeResize="0"/>
          <p:nvPr/>
        </p:nvPicPr>
        <p:blipFill rotWithShape="1">
          <a:blip r:embed="rId3">
            <a:alphaModFix/>
          </a:blip>
          <a:srcRect b="0" l="0" r="0" t="0"/>
          <a:stretch/>
        </p:blipFill>
        <p:spPr>
          <a:xfrm>
            <a:off x="7046873" y="-12300"/>
            <a:ext cx="1920601" cy="6091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